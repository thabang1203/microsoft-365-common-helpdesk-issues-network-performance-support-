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800225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4" name="Text 2"/>
          <p:cNvSpPr/>
          <p:nvPr/>
        </p:nvSpPr>
        <p:spPr>
          <a:xfrm>
            <a:off x="731490" y="266700"/>
            <a:ext cx="105558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08" kern="0" dirty="0">
                <a:solidFill>
                  <a:srgbClr val="C6C9D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CAPACITI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7836471" y="266700"/>
            <a:ext cx="80600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08" kern="0" dirty="0">
                <a:solidFill>
                  <a:srgbClr val="C6C9D0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WEEK 1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731490" y="1024905"/>
            <a:ext cx="7643753" cy="552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108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Helpdesk Simulation Project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490" y="2169765"/>
            <a:ext cx="6145374" cy="492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1"/>
              </a:lnSpc>
              <a:buNone/>
            </a:pPr>
            <a:r>
              <a:rPr lang="en-US" sz="151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 — IT Support Investigation, Troubleshooting</a:t>
            </a:r>
            <a:endParaRPr lang="en-US" sz="1510" dirty="0"/>
          </a:p>
          <a:p>
            <a:pPr algn="l" indent="0" marL="0">
              <a:lnSpc>
                <a:spcPts val="2041"/>
              </a:lnSpc>
              <a:buNone/>
            </a:pPr>
            <a:r>
              <a:rPr lang="en-US" sz="151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Customer Communication</a:t>
            </a:r>
            <a:endParaRPr lang="en-US" sz="1510" dirty="0"/>
          </a:p>
        </p:txBody>
      </p:sp>
      <p:sp>
        <p:nvSpPr>
          <p:cNvPr id="8" name="Text 6"/>
          <p:cNvSpPr/>
          <p:nvPr/>
        </p:nvSpPr>
        <p:spPr>
          <a:xfrm>
            <a:off x="731490" y="2795736"/>
            <a:ext cx="405660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1C25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Candidate: Thabang Norman Lesotho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731490" y="3136478"/>
            <a:ext cx="496816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2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365 and Network &amp; Performance Support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730523" y="3362102"/>
            <a:ext cx="3476625" cy="1576388"/>
          </a:xfrm>
          <a:prstGeom prst="rect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731490" y="3479899"/>
            <a:ext cx="157623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EVIDENCE SET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731490" y="3737000"/>
            <a:ext cx="1383335" cy="3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en-US" sz="1120" b="1" dirty="0">
                <a:solidFill>
                  <a:srgbClr val="1C25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Five Zendesk</a:t>
            </a:r>
            <a:endParaRPr lang="en-US" sz="1120" dirty="0"/>
          </a:p>
          <a:p>
            <a:pPr algn="l" indent="0" marL="0">
              <a:lnSpc>
                <a:spcPts val="1674"/>
              </a:lnSpc>
              <a:buNone/>
            </a:pPr>
            <a:r>
              <a:rPr lang="en-US" sz="1120" b="1" dirty="0">
                <a:solidFill>
                  <a:srgbClr val="1C25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tickets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2743126" y="3479899"/>
            <a:ext cx="81673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FORMAT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2743126" y="3737000"/>
            <a:ext cx="1162385" cy="3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en-US" sz="1120" b="1" dirty="0">
                <a:solidFill>
                  <a:srgbClr val="1C25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Individual</a:t>
            </a:r>
            <a:endParaRPr lang="en-US" sz="1120" dirty="0"/>
          </a:p>
          <a:p>
            <a:pPr algn="l" indent="0" marL="0">
              <a:lnSpc>
                <a:spcPts val="1674"/>
              </a:lnSpc>
              <a:buNone/>
            </a:pPr>
            <a:r>
              <a:rPr lang="en-US" sz="1120" b="1" dirty="0">
                <a:solidFill>
                  <a:srgbClr val="1C25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portfolio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731490" y="4265042"/>
            <a:ext cx="69010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FOCUS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731490" y="4522143"/>
            <a:ext cx="1383335" cy="3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en-US" sz="1120" b="1" dirty="0">
                <a:solidFill>
                  <a:srgbClr val="1C25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Process over</a:t>
            </a:r>
            <a:endParaRPr lang="en-US" sz="1120" dirty="0"/>
          </a:p>
          <a:p>
            <a:pPr algn="l" indent="0" marL="0">
              <a:lnSpc>
                <a:spcPts val="1674"/>
              </a:lnSpc>
              <a:buNone/>
            </a:pPr>
            <a:r>
              <a:rPr lang="en-US" sz="1120" b="1" dirty="0">
                <a:solidFill>
                  <a:srgbClr val="1C25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guesswork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2743126" y="4265042"/>
            <a:ext cx="81673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RECORD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2743126" y="4522143"/>
            <a:ext cx="1604382" cy="3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en-US" sz="1120" b="1" dirty="0">
                <a:solidFill>
                  <a:srgbClr val="1C25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Screenshots in</a:t>
            </a:r>
            <a:endParaRPr lang="en-US" sz="1120" dirty="0"/>
          </a:p>
          <a:p>
            <a:pPr algn="l" indent="0" marL="0">
              <a:lnSpc>
                <a:spcPts val="1674"/>
              </a:lnSpc>
              <a:buNone/>
            </a:pPr>
            <a:r>
              <a:rPr lang="en-US" sz="1120" b="1" dirty="0">
                <a:solidFill>
                  <a:srgbClr val="1C25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order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5395280" y="3601001"/>
            <a:ext cx="1471613" cy="1233488"/>
          </a:xfrm>
          <a:prstGeom prst="rect">
            <a:avLst/>
          </a:prstGeom>
          <a:ln w="4763">
            <a:solidFill>
              <a:srgbClr val="D8DDE5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042" y="3605763"/>
            <a:ext cx="1462088" cy="1223962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940600" y="3446696"/>
            <a:ext cx="1471613" cy="1233488"/>
          </a:xfrm>
          <a:prstGeom prst="rect">
            <a:avLst/>
          </a:prstGeom>
          <a:ln w="4763">
            <a:solidFill>
              <a:srgbClr val="D8DDE5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362" y="3451458"/>
            <a:ext cx="1462088" cy="1223962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0523" y="3362102"/>
            <a:ext cx="3476625" cy="1576388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7680052" y="1433513"/>
            <a:ext cx="733425" cy="733425"/>
          </a:xfrm>
          <a:prstGeom prst="ellipse">
            <a:avLst/>
          </a:prstGeom>
          <a:solidFill>
            <a:srgbClr val="FAFBFC"/>
          </a:solidFill>
          <a:ln w="14288">
            <a:solidFill>
              <a:srgbClr val="1C2541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753871" y="1507331"/>
            <a:ext cx="585788" cy="585788"/>
          </a:xfrm>
          <a:prstGeom prst="ellipse">
            <a:avLst/>
          </a:prstGeom>
          <a:ln w="9525">
            <a:solidFill>
              <a:srgbClr val="1C2642">
                <a:alpha val="50196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4" name="Text 2"/>
          <p:cNvSpPr/>
          <p:nvPr/>
        </p:nvSpPr>
        <p:spPr>
          <a:xfrm>
            <a:off x="731490" y="227037"/>
            <a:ext cx="3039301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spc="-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Scenarios</a:t>
            </a:r>
            <a:endParaRPr lang="en-US" sz="2020" dirty="0"/>
          </a:p>
        </p:txBody>
      </p:sp>
      <p:sp>
        <p:nvSpPr>
          <p:cNvPr id="5" name="Text 3"/>
          <p:cNvSpPr/>
          <p:nvPr/>
        </p:nvSpPr>
        <p:spPr>
          <a:xfrm>
            <a:off x="8225954" y="292447"/>
            <a:ext cx="299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BBBEC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732458" y="1080343"/>
            <a:ext cx="3609975" cy="2043113"/>
          </a:xfrm>
          <a:prstGeom prst="rect">
            <a:avLst/>
          </a:prstGeom>
          <a:ln/>
        </p:spPr>
      </p:sp>
      <p:sp>
        <p:nvSpPr>
          <p:cNvPr id="7" name="Text 5"/>
          <p:cNvSpPr/>
          <p:nvPr/>
        </p:nvSpPr>
        <p:spPr>
          <a:xfrm>
            <a:off x="731490" y="1221060"/>
            <a:ext cx="220919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SCENARIO GROUP 01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31490" y="1501973"/>
            <a:ext cx="3853547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187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365 &amp; Common</a:t>
            </a:r>
            <a:endParaRPr lang="en-US" sz="1870" dirty="0"/>
          </a:p>
          <a:p>
            <a:pPr algn="l" indent="0" marL="0">
              <a:lnSpc>
                <a:spcPts val="2808"/>
              </a:lnSpc>
              <a:buNone/>
            </a:pPr>
            <a:r>
              <a:rPr lang="en-US" sz="187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Helpdesk Issues</a:t>
            </a:r>
            <a:endParaRPr lang="en-US" sz="1870" dirty="0"/>
          </a:p>
        </p:txBody>
      </p:sp>
      <p:sp>
        <p:nvSpPr>
          <p:cNvPr id="9" name="Text 7"/>
          <p:cNvSpPr/>
          <p:nvPr/>
        </p:nvSpPr>
        <p:spPr>
          <a:xfrm>
            <a:off x="731490" y="2392263"/>
            <a:ext cx="3074224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and OneDrive support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490" y="2721099"/>
            <a:ext cx="4685593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completed Zendesk tickets: two Microsoft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9169" y="2924770"/>
            <a:ext cx="282531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365 and three network tickets</a:t>
            </a:r>
            <a:endParaRPr lang="en-US" sz="1190" dirty="0"/>
          </a:p>
        </p:txBody>
      </p:sp>
      <p:sp>
        <p:nvSpPr>
          <p:cNvPr id="12" name="Shape 10"/>
          <p:cNvSpPr/>
          <p:nvPr/>
        </p:nvSpPr>
        <p:spPr>
          <a:xfrm>
            <a:off x="4801567" y="1080343"/>
            <a:ext cx="3609975" cy="2043113"/>
          </a:xfrm>
          <a:prstGeom prst="rect">
            <a:avLst/>
          </a:prstGeom>
          <a:ln/>
        </p:spPr>
      </p:sp>
      <p:sp>
        <p:nvSpPr>
          <p:cNvPr id="13" name="Text 11"/>
          <p:cNvSpPr/>
          <p:nvPr/>
        </p:nvSpPr>
        <p:spPr>
          <a:xfrm>
            <a:off x="4800600" y="1221060"/>
            <a:ext cx="220919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SCENARIO GROUP 02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800600" y="1501973"/>
            <a:ext cx="3637724" cy="642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187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&amp; Performance</a:t>
            </a:r>
            <a:endParaRPr lang="en-US" sz="1870" dirty="0"/>
          </a:p>
          <a:p>
            <a:pPr algn="l" indent="0" marL="0">
              <a:lnSpc>
                <a:spcPts val="2808"/>
              </a:lnSpc>
              <a:buNone/>
            </a:pPr>
            <a:r>
              <a:rPr lang="en-US" sz="187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</a:t>
            </a:r>
            <a:endParaRPr lang="en-US" sz="1870" dirty="0"/>
          </a:p>
        </p:txBody>
      </p:sp>
      <p:sp>
        <p:nvSpPr>
          <p:cNvPr id="15" name="Text 13"/>
          <p:cNvSpPr/>
          <p:nvPr/>
        </p:nvSpPr>
        <p:spPr>
          <a:xfrm>
            <a:off x="4800600" y="2392263"/>
            <a:ext cx="3211592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Wi-Fi, IP and DNS connectivity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2721099"/>
            <a:ext cx="4685593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completed Zendesk tickets: two Microsoft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38279" y="2924770"/>
            <a:ext cx="282531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365 and three network tickets</a:t>
            </a:r>
            <a:endParaRPr lang="en-US" sz="1190" dirty="0"/>
          </a:p>
        </p:txBody>
      </p:sp>
      <p:sp>
        <p:nvSpPr>
          <p:cNvPr id="18" name="Shape 16"/>
          <p:cNvSpPr/>
          <p:nvPr/>
        </p:nvSpPr>
        <p:spPr>
          <a:xfrm>
            <a:off x="731044" y="3361432"/>
            <a:ext cx="2500313" cy="100965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9" name="Text 17"/>
          <p:cNvSpPr/>
          <p:nvPr/>
        </p:nvSpPr>
        <p:spPr>
          <a:xfrm>
            <a:off x="914326" y="3541514"/>
            <a:ext cx="667085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880" dirty="0"/>
          </a:p>
        </p:txBody>
      </p:sp>
      <p:sp>
        <p:nvSpPr>
          <p:cNvPr id="20" name="Text 18"/>
          <p:cNvSpPr/>
          <p:nvPr/>
        </p:nvSpPr>
        <p:spPr>
          <a:xfrm>
            <a:off x="914326" y="4047232"/>
            <a:ext cx="187573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77777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SCENARIO GROUPS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3321844" y="3361432"/>
            <a:ext cx="2500313" cy="100965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2" name="Text 20"/>
          <p:cNvSpPr/>
          <p:nvPr/>
        </p:nvSpPr>
        <p:spPr>
          <a:xfrm>
            <a:off x="3505126" y="3541514"/>
            <a:ext cx="661958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880" dirty="0"/>
          </a:p>
        </p:txBody>
      </p:sp>
      <p:sp>
        <p:nvSpPr>
          <p:cNvPr id="23" name="Text 21"/>
          <p:cNvSpPr/>
          <p:nvPr/>
        </p:nvSpPr>
        <p:spPr>
          <a:xfrm>
            <a:off x="3505126" y="4047232"/>
            <a:ext cx="211825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77777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COMPLETED TICKETS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912644" y="3361432"/>
            <a:ext cx="2500313" cy="1009650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5" name="Text 23"/>
          <p:cNvSpPr/>
          <p:nvPr/>
        </p:nvSpPr>
        <p:spPr>
          <a:xfrm>
            <a:off x="6095926" y="3541514"/>
            <a:ext cx="1702958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03</a:t>
            </a:r>
            <a:endParaRPr lang="en-US" sz="2880" dirty="0"/>
          </a:p>
        </p:txBody>
      </p:sp>
      <p:sp>
        <p:nvSpPr>
          <p:cNvPr id="26" name="Text 24"/>
          <p:cNvSpPr/>
          <p:nvPr/>
        </p:nvSpPr>
        <p:spPr>
          <a:xfrm>
            <a:off x="6095926" y="4047232"/>
            <a:ext cx="175452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77777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M365 / NETWORK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731490" y="4872558"/>
            <a:ext cx="36943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CAPACITI | HELPDESK SIMULATION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8225954" y="4872558"/>
            <a:ext cx="299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endParaRPr lang="en-US" sz="108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2458" y="1080343"/>
            <a:ext cx="3609975" cy="2043113"/>
          </a:xfrm>
          <a:prstGeom prst="rect">
            <a:avLst/>
          </a:prstGeom>
        </p:spPr>
      </p:pic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01567" y="1080343"/>
            <a:ext cx="3609975" cy="2043113"/>
          </a:xfrm>
          <a:prstGeom prst="rect">
            <a:avLst/>
          </a:prstGeom>
        </p:spPr>
      </p:pic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4782517"/>
            <a:ext cx="91440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4" name="Text 2"/>
          <p:cNvSpPr/>
          <p:nvPr/>
        </p:nvSpPr>
        <p:spPr>
          <a:xfrm>
            <a:off x="731490" y="227037"/>
            <a:ext cx="5312941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spc="-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Investigation and Troubleshooting</a:t>
            </a:r>
            <a:endParaRPr lang="en-US" sz="2020" dirty="0"/>
          </a:p>
        </p:txBody>
      </p:sp>
      <p:sp>
        <p:nvSpPr>
          <p:cNvPr id="5" name="Text 3"/>
          <p:cNvSpPr/>
          <p:nvPr/>
        </p:nvSpPr>
        <p:spPr>
          <a:xfrm>
            <a:off x="8225954" y="292447"/>
            <a:ext cx="299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BBBEC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732160" y="1079339"/>
            <a:ext cx="3167063" cy="3014663"/>
          </a:xfrm>
          <a:prstGeom prst="rect">
            <a:avLst/>
          </a:prstGeom>
          <a:ln/>
        </p:spPr>
      </p:sp>
      <p:sp>
        <p:nvSpPr>
          <p:cNvPr id="7" name="Text 5"/>
          <p:cNvSpPr/>
          <p:nvPr/>
        </p:nvSpPr>
        <p:spPr>
          <a:xfrm>
            <a:off x="731490" y="1221060"/>
            <a:ext cx="18293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WORKING METHOD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31490" y="1590526"/>
            <a:ext cx="2746474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1C25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</a:t>
            </a:r>
            <a:pPr algn="l" indent="0" marL="0">
              <a:buNone/>
            </a:pPr>
            <a:r>
              <a:rPr lang="en-US" sz="137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 the symptom</a:t>
            </a:r>
            <a:endParaRPr lang="en-US" sz="1580" dirty="0"/>
          </a:p>
        </p:txBody>
      </p:sp>
      <p:sp>
        <p:nvSpPr>
          <p:cNvPr id="9" name="Text 7"/>
          <p:cNvSpPr/>
          <p:nvPr/>
        </p:nvSpPr>
        <p:spPr>
          <a:xfrm>
            <a:off x="731490" y="2010445"/>
            <a:ext cx="2368711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1C25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</a:t>
            </a:r>
            <a:pPr algn="l" indent="0" marL="0">
              <a:buNone/>
            </a:pPr>
            <a:r>
              <a:rPr lang="en-US" sz="137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 the scope</a:t>
            </a:r>
            <a:endParaRPr lang="en-US" sz="1580" dirty="0"/>
          </a:p>
        </p:txBody>
      </p:sp>
      <p:sp>
        <p:nvSpPr>
          <p:cNvPr id="10" name="Text 8"/>
          <p:cNvSpPr/>
          <p:nvPr/>
        </p:nvSpPr>
        <p:spPr>
          <a:xfrm>
            <a:off x="731490" y="2430363"/>
            <a:ext cx="2171849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1C25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pPr algn="l" indent="0" marL="0">
              <a:buNone/>
            </a:pPr>
            <a:r>
              <a:rPr lang="en-US" sz="137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one cause</a:t>
            </a:r>
            <a:endParaRPr lang="en-US" sz="1580" dirty="0"/>
          </a:p>
        </p:txBody>
      </p:sp>
      <p:sp>
        <p:nvSpPr>
          <p:cNvPr id="11" name="Text 9"/>
          <p:cNvSpPr/>
          <p:nvPr/>
        </p:nvSpPr>
        <p:spPr>
          <a:xfrm>
            <a:off x="731490" y="2850282"/>
            <a:ext cx="263774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1C25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pPr algn="l" indent="0" marL="0">
              <a:buNone/>
            </a:pPr>
            <a:r>
              <a:rPr lang="en-US" sz="137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a targeted fix</a:t>
            </a:r>
            <a:endParaRPr lang="en-US" sz="1580" dirty="0"/>
          </a:p>
        </p:txBody>
      </p:sp>
      <p:sp>
        <p:nvSpPr>
          <p:cNvPr id="12" name="Text 10"/>
          <p:cNvSpPr/>
          <p:nvPr/>
        </p:nvSpPr>
        <p:spPr>
          <a:xfrm>
            <a:off x="731490" y="3270200"/>
            <a:ext cx="2825993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dirty="0">
                <a:solidFill>
                  <a:srgbClr val="1C2541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pPr algn="l" indent="0" marL="0">
              <a:buNone/>
            </a:pPr>
            <a:r>
              <a:rPr lang="en-US" sz="137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Retest before closure</a:t>
            </a:r>
            <a:endParaRPr lang="en-US" sz="1580" dirty="0"/>
          </a:p>
        </p:txBody>
      </p:sp>
      <p:sp>
        <p:nvSpPr>
          <p:cNvPr id="13" name="Shape 11"/>
          <p:cNvSpPr/>
          <p:nvPr/>
        </p:nvSpPr>
        <p:spPr>
          <a:xfrm>
            <a:off x="4540262" y="1079339"/>
            <a:ext cx="3871913" cy="3014663"/>
          </a:xfrm>
          <a:prstGeom prst="rect">
            <a:avLst/>
          </a:prstGeom>
          <a:ln/>
        </p:spPr>
      </p:sp>
      <p:sp>
        <p:nvSpPr>
          <p:cNvPr id="14" name="Text 12"/>
          <p:cNvSpPr/>
          <p:nvPr/>
        </p:nvSpPr>
        <p:spPr>
          <a:xfrm>
            <a:off x="4539928" y="1221060"/>
            <a:ext cx="360164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EVIDENCE CAPTURED IN ZENDESK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539928" y="1576239"/>
            <a:ext cx="4557125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Collected symptoms, timing, error messages,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77606" y="1779910"/>
            <a:ext cx="37674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affected devices, and previous attempts</a:t>
            </a:r>
            <a:endParaRPr lang="en-US" sz="1190" dirty="0"/>
          </a:p>
        </p:txBody>
      </p:sp>
      <p:sp>
        <p:nvSpPr>
          <p:cNvPr id="17" name="Text 15"/>
          <p:cNvSpPr/>
          <p:nvPr/>
        </p:nvSpPr>
        <p:spPr>
          <a:xfrm>
            <a:off x="4539928" y="2101825"/>
            <a:ext cx="4985869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Compared one affected device with other devices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77606" y="2305496"/>
            <a:ext cx="131803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networks</a:t>
            </a:r>
            <a:endParaRPr lang="en-US" sz="1190" dirty="0"/>
          </a:p>
        </p:txBody>
      </p:sp>
      <p:sp>
        <p:nvSpPr>
          <p:cNvPr id="19" name="Text 17"/>
          <p:cNvSpPr/>
          <p:nvPr/>
        </p:nvSpPr>
        <p:spPr>
          <a:xfrm>
            <a:off x="4539928" y="2627412"/>
            <a:ext cx="4711616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Zendesk internal notes to record findings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77606" y="2831083"/>
            <a:ext cx="141796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next steps</a:t>
            </a:r>
            <a:endParaRPr lang="en-US" sz="1190" dirty="0"/>
          </a:p>
        </p:txBody>
      </p:sp>
      <p:sp>
        <p:nvSpPr>
          <p:cNvPr id="21" name="Text 19"/>
          <p:cNvSpPr/>
          <p:nvPr/>
        </p:nvSpPr>
        <p:spPr>
          <a:xfrm>
            <a:off x="4539928" y="3152998"/>
            <a:ext cx="4421498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Windows network settings, Command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77606" y="3356670"/>
            <a:ext cx="381698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Prompt, Microsoft Teams, OneDrive, and</a:t>
            </a:r>
            <a:endParaRPr lang="en-US" sz="1190" dirty="0"/>
          </a:p>
        </p:txBody>
      </p:sp>
      <p:sp>
        <p:nvSpPr>
          <p:cNvPr id="23" name="Text 21"/>
          <p:cNvSpPr/>
          <p:nvPr/>
        </p:nvSpPr>
        <p:spPr>
          <a:xfrm>
            <a:off x="4777606" y="3560341"/>
            <a:ext cx="106322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SharePoint</a:t>
            </a:r>
            <a:endParaRPr lang="en-US" sz="1190" dirty="0"/>
          </a:p>
        </p:txBody>
      </p:sp>
      <p:sp>
        <p:nvSpPr>
          <p:cNvPr id="24" name="Text 22"/>
          <p:cNvSpPr/>
          <p:nvPr/>
        </p:nvSpPr>
        <p:spPr>
          <a:xfrm>
            <a:off x="4539928" y="3882256"/>
            <a:ext cx="5010730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Tested each proposed fix before closing the ticket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490" y="4872558"/>
            <a:ext cx="36943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CAPACITI | HELPDESK SIMULATION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8225954" y="4872558"/>
            <a:ext cx="299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</a:t>
            </a:r>
            <a:endParaRPr lang="en-US" sz="108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2160" y="1079339"/>
            <a:ext cx="3167063" cy="3014663"/>
          </a:xfrm>
          <a:prstGeom prst="rect">
            <a:avLst/>
          </a:prstGeom>
        </p:spPr>
      </p:pic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0262" y="1079339"/>
            <a:ext cx="3871913" cy="3014663"/>
          </a:xfrm>
          <a:prstGeom prst="rect">
            <a:avLst/>
          </a:prstGeom>
        </p:spPr>
      </p:pic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4782517"/>
            <a:ext cx="91440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4" name="Text 2"/>
          <p:cNvSpPr/>
          <p:nvPr/>
        </p:nvSpPr>
        <p:spPr>
          <a:xfrm>
            <a:off x="731490" y="227037"/>
            <a:ext cx="5685480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spc="-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1: Microsoft 365 Resolution</a:t>
            </a:r>
            <a:endParaRPr lang="en-US" sz="2020" dirty="0"/>
          </a:p>
        </p:txBody>
      </p:sp>
      <p:sp>
        <p:nvSpPr>
          <p:cNvPr id="5" name="Text 3"/>
          <p:cNvSpPr/>
          <p:nvPr/>
        </p:nvSpPr>
        <p:spPr>
          <a:xfrm>
            <a:off x="8225954" y="292447"/>
            <a:ext cx="299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BBBEC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731974" y="1003474"/>
            <a:ext cx="3748087" cy="2890837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7" name="Text 5"/>
          <p:cNvSpPr/>
          <p:nvPr/>
        </p:nvSpPr>
        <p:spPr>
          <a:xfrm>
            <a:off x="914326" y="1195313"/>
            <a:ext cx="157623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QUESTION #36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914326" y="1471464"/>
            <a:ext cx="2287354" cy="572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166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OneDrive sign-in</a:t>
            </a:r>
            <a:endParaRPr lang="en-US" sz="1660" dirty="0"/>
          </a:p>
          <a:p>
            <a:pPr algn="l" indent="0" marL="0">
              <a:lnSpc>
                <a:spcPts val="2484"/>
              </a:lnSpc>
              <a:buNone/>
            </a:pPr>
            <a:r>
              <a:rPr lang="en-US" sz="166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loop</a:t>
            </a:r>
            <a:endParaRPr lang="en-US" sz="1660" dirty="0"/>
          </a:p>
        </p:txBody>
      </p:sp>
      <p:sp>
        <p:nvSpPr>
          <p:cNvPr id="9" name="Shape 7"/>
          <p:cNvSpPr/>
          <p:nvPr/>
        </p:nvSpPr>
        <p:spPr>
          <a:xfrm>
            <a:off x="3055776" y="1185304"/>
            <a:ext cx="1243013" cy="566738"/>
          </a:xfrm>
          <a:prstGeom prst="rect">
            <a:avLst/>
          </a:prstGeom>
          <a:ln w="4763">
            <a:solidFill>
              <a:srgbClr val="D8DDE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0539" y="1190067"/>
            <a:ext cx="1233488" cy="55721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326" y="2207121"/>
            <a:ext cx="4080398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OneDrive sign-in loop: sign out and sign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52004" y="2410792"/>
            <a:ext cx="404005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 in through OneDrive Account settings</a:t>
            </a:r>
            <a:endParaRPr lang="en-US" sz="1190" dirty="0"/>
          </a:p>
        </p:txBody>
      </p:sp>
      <p:sp>
        <p:nvSpPr>
          <p:cNvPr id="13" name="Text 10"/>
          <p:cNvSpPr/>
          <p:nvPr/>
        </p:nvSpPr>
        <p:spPr>
          <a:xfrm>
            <a:off x="914326" y="2701900"/>
            <a:ext cx="4090362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OneDrive result: sign-in prompt stopped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52004" y="2905571"/>
            <a:ext cx="242839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files synced normally</a:t>
            </a:r>
            <a:endParaRPr lang="en-US" sz="1190" dirty="0"/>
          </a:p>
        </p:txBody>
      </p:sp>
      <p:sp>
        <p:nvSpPr>
          <p:cNvPr id="15" name="Text 12"/>
          <p:cNvSpPr/>
          <p:nvPr/>
        </p:nvSpPr>
        <p:spPr>
          <a:xfrm>
            <a:off x="914326" y="3324448"/>
            <a:ext cx="272441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013"/>
              </a:spcBef>
              <a:buNone/>
            </a:pPr>
            <a:r>
              <a:rPr lang="en-US" sz="1080" spc="86" kern="0" dirty="0">
                <a:solidFill>
                  <a:srgbClr val="77777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RESOLVED AT FIRST LINE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4663901" y="1003474"/>
            <a:ext cx="3748087" cy="2890837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7" name="Text 14"/>
          <p:cNvSpPr/>
          <p:nvPr/>
        </p:nvSpPr>
        <p:spPr>
          <a:xfrm>
            <a:off x="4846216" y="1195313"/>
            <a:ext cx="157623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QUESTION #38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4846216" y="1471464"/>
            <a:ext cx="2730609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66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offline status</a:t>
            </a:r>
            <a:endParaRPr lang="en-US" sz="1660" dirty="0"/>
          </a:p>
        </p:txBody>
      </p:sp>
      <p:sp>
        <p:nvSpPr>
          <p:cNvPr id="19" name="Shape 16"/>
          <p:cNvSpPr/>
          <p:nvPr/>
        </p:nvSpPr>
        <p:spPr>
          <a:xfrm>
            <a:off x="6949046" y="1185304"/>
            <a:ext cx="1281112" cy="566738"/>
          </a:xfrm>
          <a:prstGeom prst="rect">
            <a:avLst/>
          </a:prstGeom>
          <a:ln w="4763">
            <a:solidFill>
              <a:srgbClr val="D8DDE5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808" y="1190067"/>
            <a:ext cx="1271588" cy="55721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846216" y="1891680"/>
            <a:ext cx="3519123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offline status: quit, restart,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083894" y="2095351"/>
            <a:ext cx="386979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re-authenticate, test web access, and repair</a:t>
            </a:r>
            <a:endParaRPr lang="en-US" sz="1190" dirty="0"/>
          </a:p>
        </p:txBody>
      </p:sp>
      <p:sp>
        <p:nvSpPr>
          <p:cNvPr id="23" name="Text 19"/>
          <p:cNvSpPr/>
          <p:nvPr/>
        </p:nvSpPr>
        <p:spPr>
          <a:xfrm>
            <a:off x="5083894" y="2299022"/>
            <a:ext cx="142502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Teams app</a:t>
            </a:r>
            <a:endParaRPr lang="en-US" sz="1190" dirty="0"/>
          </a:p>
        </p:txBody>
      </p:sp>
      <p:sp>
        <p:nvSpPr>
          <p:cNvPr id="24" name="Text 20"/>
          <p:cNvSpPr/>
          <p:nvPr/>
        </p:nvSpPr>
        <p:spPr>
          <a:xfrm>
            <a:off x="4846216" y="2590130"/>
            <a:ext cx="4361617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result: messages and conversations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5083894" y="2793802"/>
            <a:ext cx="167345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updated normally</a:t>
            </a:r>
            <a:endParaRPr lang="en-US" sz="1190" dirty="0"/>
          </a:p>
        </p:txBody>
      </p:sp>
      <p:sp>
        <p:nvSpPr>
          <p:cNvPr id="26" name="Text 22"/>
          <p:cNvSpPr/>
          <p:nvPr/>
        </p:nvSpPr>
        <p:spPr>
          <a:xfrm>
            <a:off x="4846216" y="3084909"/>
            <a:ext cx="3842229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tickets were resolved at first line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4846216" y="3515841"/>
            <a:ext cx="36943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013"/>
              </a:spcBef>
              <a:buNone/>
            </a:pPr>
            <a:r>
              <a:rPr lang="en-US" sz="1080" spc="86" kern="0" dirty="0">
                <a:solidFill>
                  <a:srgbClr val="77777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CUSTOMER CONFIRMATION RECORDED</a:t>
            </a:r>
            <a:endParaRPr lang="en-US" sz="1080" dirty="0"/>
          </a:p>
        </p:txBody>
      </p:sp>
      <p:sp>
        <p:nvSpPr>
          <p:cNvPr id="28" name="Shape 24"/>
          <p:cNvSpPr/>
          <p:nvPr/>
        </p:nvSpPr>
        <p:spPr>
          <a:xfrm>
            <a:off x="731490" y="4010992"/>
            <a:ext cx="1828800" cy="619125"/>
          </a:xfrm>
          <a:prstGeom prst="rect">
            <a:avLst/>
          </a:prstGeom>
          <a:ln w="4763">
            <a:solidFill>
              <a:srgbClr val="D8DDE5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53" y="4015755"/>
            <a:ext cx="1819275" cy="60960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2651671" y="4010992"/>
            <a:ext cx="1828800" cy="619125"/>
          </a:xfrm>
          <a:prstGeom prst="rect">
            <a:avLst/>
          </a:prstGeom>
          <a:ln w="4763">
            <a:solidFill>
              <a:srgbClr val="D8DDE5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433" y="4015755"/>
            <a:ext cx="1819275" cy="6096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31490" y="4872558"/>
            <a:ext cx="36943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CAPACITI | HELPDESK SIMULATION</a:t>
            </a:r>
            <a:endParaRPr lang="en-US" sz="1080" dirty="0"/>
          </a:p>
        </p:txBody>
      </p:sp>
      <p:sp>
        <p:nvSpPr>
          <p:cNvPr id="33" name="Text 27"/>
          <p:cNvSpPr/>
          <p:nvPr/>
        </p:nvSpPr>
        <p:spPr>
          <a:xfrm>
            <a:off x="8225954" y="4872558"/>
            <a:ext cx="299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</a:t>
            </a:r>
            <a:endParaRPr lang="en-US" sz="108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5330" y="3233961"/>
            <a:ext cx="3381375" cy="285750"/>
          </a:xfrm>
          <a:prstGeom prst="rect">
            <a:avLst/>
          </a:prstGeom>
        </p:spPr>
      </p:pic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47258" y="3425354"/>
            <a:ext cx="3381375" cy="285750"/>
          </a:xfrm>
          <a:prstGeom prst="rect">
            <a:avLst/>
          </a:prstGeom>
        </p:spPr>
      </p:pic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4782517"/>
            <a:ext cx="91440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4" name="Text 2"/>
          <p:cNvSpPr/>
          <p:nvPr/>
        </p:nvSpPr>
        <p:spPr>
          <a:xfrm>
            <a:off x="731490" y="227037"/>
            <a:ext cx="4921441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spc="-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2: Network Resolution</a:t>
            </a:r>
            <a:endParaRPr lang="en-US" sz="2020" dirty="0"/>
          </a:p>
        </p:txBody>
      </p:sp>
      <p:sp>
        <p:nvSpPr>
          <p:cNvPr id="5" name="Text 3"/>
          <p:cNvSpPr/>
          <p:nvPr/>
        </p:nvSpPr>
        <p:spPr>
          <a:xfrm>
            <a:off x="8225954" y="292447"/>
            <a:ext cx="299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BBBEC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731416" y="1003883"/>
            <a:ext cx="2481263" cy="2747962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7" name="Text 5"/>
          <p:cNvSpPr/>
          <p:nvPr/>
        </p:nvSpPr>
        <p:spPr>
          <a:xfrm>
            <a:off x="868635" y="1149623"/>
            <a:ext cx="157623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QUESTION #40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68635" y="1421011"/>
            <a:ext cx="221364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44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internet access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869528" y="1774850"/>
            <a:ext cx="2205037" cy="719137"/>
          </a:xfrm>
          <a:prstGeom prst="rect">
            <a:avLst/>
          </a:prstGeom>
          <a:ln w="4763">
            <a:solidFill>
              <a:srgbClr val="D8DDE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291" y="1779612"/>
            <a:ext cx="2195513" cy="70961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35" y="2602037"/>
            <a:ext cx="2675468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internet access: flush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06314" y="2805708"/>
            <a:ext cx="228870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DNS, release and renew</a:t>
            </a:r>
            <a:endParaRPr lang="en-US" sz="1190" dirty="0"/>
          </a:p>
        </p:txBody>
      </p:sp>
      <p:sp>
        <p:nvSpPr>
          <p:cNvPr id="13" name="Text 10"/>
          <p:cNvSpPr/>
          <p:nvPr/>
        </p:nvSpPr>
        <p:spPr>
          <a:xfrm>
            <a:off x="1106314" y="3009379"/>
            <a:ext cx="215472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IP address, restart,</a:t>
            </a:r>
            <a:endParaRPr lang="en-US" sz="1190" dirty="0"/>
          </a:p>
        </p:txBody>
      </p:sp>
      <p:sp>
        <p:nvSpPr>
          <p:cNvPr id="14" name="Text 11"/>
          <p:cNvSpPr/>
          <p:nvPr/>
        </p:nvSpPr>
        <p:spPr>
          <a:xfrm>
            <a:off x="1106314" y="3213050"/>
            <a:ext cx="203583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reconnect, and retest</a:t>
            </a:r>
            <a:endParaRPr lang="en-US" sz="1190" dirty="0"/>
          </a:p>
        </p:txBody>
      </p:sp>
      <p:sp>
        <p:nvSpPr>
          <p:cNvPr id="15" name="Shape 12"/>
          <p:cNvSpPr/>
          <p:nvPr/>
        </p:nvSpPr>
        <p:spPr>
          <a:xfrm>
            <a:off x="3331369" y="1003883"/>
            <a:ext cx="2481263" cy="2747962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6" name="Text 13"/>
          <p:cNvSpPr/>
          <p:nvPr/>
        </p:nvSpPr>
        <p:spPr>
          <a:xfrm>
            <a:off x="3468588" y="1149623"/>
            <a:ext cx="157623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QUESTION #35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3468588" y="1421011"/>
            <a:ext cx="186644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44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access</a:t>
            </a:r>
            <a:endParaRPr lang="en-US" sz="1440" dirty="0"/>
          </a:p>
        </p:txBody>
      </p:sp>
      <p:sp>
        <p:nvSpPr>
          <p:cNvPr id="18" name="Shape 15"/>
          <p:cNvSpPr/>
          <p:nvPr/>
        </p:nvSpPr>
        <p:spPr>
          <a:xfrm>
            <a:off x="3469481" y="1774850"/>
            <a:ext cx="2205037" cy="719137"/>
          </a:xfrm>
          <a:prstGeom prst="rect">
            <a:avLst/>
          </a:prstGeom>
          <a:ln w="4763">
            <a:solidFill>
              <a:srgbClr val="D8DDE5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244" y="1779612"/>
            <a:ext cx="2195513" cy="709613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468588" y="2602037"/>
            <a:ext cx="2885971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access: isolate the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3706267" y="2805708"/>
            <a:ext cx="227951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laptop, refresh DNS and</a:t>
            </a:r>
            <a:endParaRPr lang="en-US" sz="1190" dirty="0"/>
          </a:p>
        </p:txBody>
      </p:sp>
      <p:sp>
        <p:nvSpPr>
          <p:cNvPr id="22" name="Text 18"/>
          <p:cNvSpPr/>
          <p:nvPr/>
        </p:nvSpPr>
        <p:spPr>
          <a:xfrm>
            <a:off x="3706267" y="3009379"/>
            <a:ext cx="215579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configuration,</a:t>
            </a:r>
            <a:endParaRPr lang="en-US" sz="1190" dirty="0"/>
          </a:p>
        </p:txBody>
      </p:sp>
      <p:sp>
        <p:nvSpPr>
          <p:cNvPr id="23" name="Text 19"/>
          <p:cNvSpPr/>
          <p:nvPr/>
        </p:nvSpPr>
        <p:spPr>
          <a:xfrm>
            <a:off x="3706267" y="3213050"/>
            <a:ext cx="251401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 retest SharePoint and</a:t>
            </a:r>
            <a:endParaRPr lang="en-US" sz="1190" dirty="0"/>
          </a:p>
        </p:txBody>
      </p:sp>
      <p:sp>
        <p:nvSpPr>
          <p:cNvPr id="24" name="Text 20"/>
          <p:cNvSpPr/>
          <p:nvPr/>
        </p:nvSpPr>
        <p:spPr>
          <a:xfrm>
            <a:off x="3706267" y="3416722"/>
            <a:ext cx="67008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</a:t>
            </a:r>
            <a:endParaRPr lang="en-US" sz="1190" dirty="0"/>
          </a:p>
        </p:txBody>
      </p:sp>
      <p:sp>
        <p:nvSpPr>
          <p:cNvPr id="25" name="Shape 21"/>
          <p:cNvSpPr/>
          <p:nvPr/>
        </p:nvSpPr>
        <p:spPr>
          <a:xfrm>
            <a:off x="5931322" y="1003883"/>
            <a:ext cx="2481263" cy="2747962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6" name="Text 22"/>
          <p:cNvSpPr/>
          <p:nvPr/>
        </p:nvSpPr>
        <p:spPr>
          <a:xfrm>
            <a:off x="6068541" y="1149623"/>
            <a:ext cx="157623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QUESTION #39</a:t>
            </a:r>
            <a:endParaRPr lang="en-US" sz="1080" dirty="0"/>
          </a:p>
        </p:txBody>
      </p:sp>
      <p:sp>
        <p:nvSpPr>
          <p:cNvPr id="27" name="Text 23"/>
          <p:cNvSpPr/>
          <p:nvPr/>
        </p:nvSpPr>
        <p:spPr>
          <a:xfrm>
            <a:off x="6068541" y="1421011"/>
            <a:ext cx="139533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44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Wi-Fi drops</a:t>
            </a:r>
            <a:endParaRPr lang="en-US" sz="1440" dirty="0"/>
          </a:p>
        </p:txBody>
      </p:sp>
      <p:sp>
        <p:nvSpPr>
          <p:cNvPr id="28" name="Shape 24"/>
          <p:cNvSpPr/>
          <p:nvPr/>
        </p:nvSpPr>
        <p:spPr>
          <a:xfrm>
            <a:off x="6069434" y="1774850"/>
            <a:ext cx="2205037" cy="719137"/>
          </a:xfrm>
          <a:prstGeom prst="rect">
            <a:avLst/>
          </a:prstGeom>
          <a:ln w="4763">
            <a:solidFill>
              <a:srgbClr val="D8DDE5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197" y="1779612"/>
            <a:ext cx="2195513" cy="709613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068541" y="2602037"/>
            <a:ext cx="2377224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Wi-Fi drops: compare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6306220" y="2805708"/>
            <a:ext cx="214785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devices and networks,</a:t>
            </a:r>
            <a:endParaRPr lang="en-US" sz="1190" dirty="0"/>
          </a:p>
        </p:txBody>
      </p:sp>
      <p:sp>
        <p:nvSpPr>
          <p:cNvPr id="32" name="Text 27"/>
          <p:cNvSpPr/>
          <p:nvPr/>
        </p:nvSpPr>
        <p:spPr>
          <a:xfrm>
            <a:off x="6306220" y="3009379"/>
            <a:ext cx="232885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wireless settings,</a:t>
            </a:r>
            <a:endParaRPr lang="en-US" sz="1190" dirty="0"/>
          </a:p>
        </p:txBody>
      </p:sp>
      <p:sp>
        <p:nvSpPr>
          <p:cNvPr id="33" name="Text 28"/>
          <p:cNvSpPr/>
          <p:nvPr/>
        </p:nvSpPr>
        <p:spPr>
          <a:xfrm>
            <a:off x="6306220" y="3213050"/>
            <a:ext cx="203583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reconnect, and retest</a:t>
            </a:r>
            <a:endParaRPr lang="en-US" sz="1190" dirty="0"/>
          </a:p>
        </p:txBody>
      </p:sp>
      <p:sp>
        <p:nvSpPr>
          <p:cNvPr id="34" name="Shape 29"/>
          <p:cNvSpPr/>
          <p:nvPr/>
        </p:nvSpPr>
        <p:spPr>
          <a:xfrm>
            <a:off x="731044" y="4035921"/>
            <a:ext cx="7681912" cy="542925"/>
          </a:xfrm>
          <a:prstGeom prst="rect">
            <a:avLst/>
          </a:prstGeom>
          <a:ln/>
        </p:spPr>
      </p:sp>
      <p:sp>
        <p:nvSpPr>
          <p:cNvPr id="35" name="Text 30"/>
          <p:cNvSpPr/>
          <p:nvPr/>
        </p:nvSpPr>
        <p:spPr>
          <a:xfrm>
            <a:off x="731490" y="4175150"/>
            <a:ext cx="4738606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three network tickets were resolved at first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969169" y="4378821"/>
            <a:ext cx="38238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</a:t>
            </a:r>
            <a:endParaRPr lang="en-US" sz="1190" dirty="0"/>
          </a:p>
        </p:txBody>
      </p:sp>
      <p:sp>
        <p:nvSpPr>
          <p:cNvPr id="37" name="Text 32"/>
          <p:cNvSpPr/>
          <p:nvPr/>
        </p:nvSpPr>
        <p:spPr>
          <a:xfrm>
            <a:off x="4709145" y="4175150"/>
            <a:ext cx="4162045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confirmed service restoration</a:t>
            </a:r>
            <a:endParaRPr lang="en-US" sz="1150" dirty="0"/>
          </a:p>
        </p:txBody>
      </p:sp>
      <p:sp>
        <p:nvSpPr>
          <p:cNvPr id="38" name="Text 33"/>
          <p:cNvSpPr/>
          <p:nvPr/>
        </p:nvSpPr>
        <p:spPr>
          <a:xfrm>
            <a:off x="731490" y="4872558"/>
            <a:ext cx="36943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CAPACITI | HELPDESK SIMULATION</a:t>
            </a:r>
            <a:endParaRPr lang="en-US" sz="1080" dirty="0"/>
          </a:p>
        </p:txBody>
      </p:sp>
      <p:sp>
        <p:nvSpPr>
          <p:cNvPr id="39" name="Text 34"/>
          <p:cNvSpPr/>
          <p:nvPr/>
        </p:nvSpPr>
        <p:spPr>
          <a:xfrm>
            <a:off x="8225954" y="4872558"/>
            <a:ext cx="299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</a:t>
            </a:r>
            <a:endParaRPr lang="en-US" sz="1080" dirty="0"/>
          </a:p>
        </p:txBody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1044" y="4035921"/>
            <a:ext cx="7681912" cy="542925"/>
          </a:xfrm>
          <a:prstGeom prst="rect">
            <a:avLst/>
          </a:prstGeom>
        </p:spPr>
      </p:pic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4782517"/>
            <a:ext cx="91440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4" name="Text 2"/>
          <p:cNvSpPr/>
          <p:nvPr/>
        </p:nvSpPr>
        <p:spPr>
          <a:xfrm>
            <a:off x="731490" y="227037"/>
            <a:ext cx="4939144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spc="-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Scenario Walkthrough</a:t>
            </a:r>
            <a:endParaRPr lang="en-US" sz="2020" dirty="0"/>
          </a:p>
        </p:txBody>
      </p:sp>
      <p:sp>
        <p:nvSpPr>
          <p:cNvPr id="5" name="Text 3"/>
          <p:cNvSpPr/>
          <p:nvPr/>
        </p:nvSpPr>
        <p:spPr>
          <a:xfrm>
            <a:off x="8225954" y="292447"/>
            <a:ext cx="299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BBBEC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732086" y="951533"/>
            <a:ext cx="4257675" cy="3267075"/>
          </a:xfrm>
          <a:prstGeom prst="rect">
            <a:avLst/>
          </a:prstGeom>
          <a:ln/>
        </p:spPr>
      </p:sp>
      <p:sp>
        <p:nvSpPr>
          <p:cNvPr id="7" name="Text 5"/>
          <p:cNvSpPr/>
          <p:nvPr/>
        </p:nvSpPr>
        <p:spPr>
          <a:xfrm>
            <a:off x="731490" y="1077069"/>
            <a:ext cx="537388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QUESTION #35 | SHAREPOINT AND TEAMS ACCESS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31490" y="1380827"/>
            <a:ext cx="5228198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issue: Teams and SharePoint showed “This site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9169" y="1584499"/>
            <a:ext cx="393558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can’t be reached” on one Windows laptop</a:t>
            </a:r>
            <a:endParaRPr lang="en-US" sz="1190" dirty="0"/>
          </a:p>
        </p:txBody>
      </p:sp>
      <p:sp>
        <p:nvSpPr>
          <p:cNvPr id="10" name="Text 8"/>
          <p:cNvSpPr/>
          <p:nvPr/>
        </p:nvSpPr>
        <p:spPr>
          <a:xfrm>
            <a:off x="731490" y="1867867"/>
            <a:ext cx="5477589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Investigation: other devices and other websites worked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9169" y="2071539"/>
            <a:ext cx="85553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normally</a:t>
            </a:r>
            <a:endParaRPr lang="en-US" sz="1190" dirty="0"/>
          </a:p>
        </p:txBody>
      </p:sp>
      <p:sp>
        <p:nvSpPr>
          <p:cNvPr id="12" name="Text 10"/>
          <p:cNvSpPr/>
          <p:nvPr/>
        </p:nvSpPr>
        <p:spPr>
          <a:xfrm>
            <a:off x="731490" y="2354907"/>
            <a:ext cx="4687915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Research: considered DNS resolution, browser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9169" y="2558579"/>
            <a:ext cx="523497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configuration, network filtering, and device connectivity</a:t>
            </a:r>
            <a:endParaRPr lang="en-US" sz="1190" dirty="0"/>
          </a:p>
        </p:txBody>
      </p:sp>
      <p:sp>
        <p:nvSpPr>
          <p:cNvPr id="14" name="Text 12"/>
          <p:cNvSpPr/>
          <p:nvPr/>
        </p:nvSpPr>
        <p:spPr>
          <a:xfrm>
            <a:off x="731490" y="2841947"/>
            <a:ext cx="4939047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Troubleshooting: reviewed settings, flushed DNS,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69169" y="3045619"/>
            <a:ext cx="349290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released and renewed the IP address</a:t>
            </a:r>
            <a:endParaRPr lang="en-US" sz="1190" dirty="0"/>
          </a:p>
        </p:txBody>
      </p:sp>
      <p:sp>
        <p:nvSpPr>
          <p:cNvPr id="16" name="Text 14"/>
          <p:cNvSpPr/>
          <p:nvPr/>
        </p:nvSpPr>
        <p:spPr>
          <a:xfrm>
            <a:off x="731490" y="3328988"/>
            <a:ext cx="5425544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Finding: the issue was isolated to the laptop’s DNS and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9169" y="3532659"/>
            <a:ext cx="132384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state</a:t>
            </a:r>
            <a:endParaRPr lang="en-US" sz="1190" dirty="0"/>
          </a:p>
        </p:txBody>
      </p:sp>
      <p:sp>
        <p:nvSpPr>
          <p:cNvPr id="18" name="Text 16"/>
          <p:cNvSpPr/>
          <p:nvPr/>
        </p:nvSpPr>
        <p:spPr>
          <a:xfrm>
            <a:off x="731490" y="3816028"/>
            <a:ext cx="5252770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Resolution: work resources loaded normally after the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69169" y="4019699"/>
            <a:ext cx="200487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refresh</a:t>
            </a:r>
            <a:endParaRPr lang="en-US" sz="1190" dirty="0"/>
          </a:p>
        </p:txBody>
      </p:sp>
      <p:sp>
        <p:nvSpPr>
          <p:cNvPr id="20" name="Shape 18"/>
          <p:cNvSpPr/>
          <p:nvPr/>
        </p:nvSpPr>
        <p:spPr>
          <a:xfrm>
            <a:off x="5264088" y="952463"/>
            <a:ext cx="1543050" cy="923925"/>
          </a:xfrm>
          <a:prstGeom prst="rect">
            <a:avLst/>
          </a:prstGeom>
          <a:ln w="4763">
            <a:solidFill>
              <a:srgbClr val="D8DDE5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8850" y="957225"/>
            <a:ext cx="1533525" cy="9144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870018" y="952463"/>
            <a:ext cx="1543050" cy="923925"/>
          </a:xfrm>
          <a:prstGeom prst="rect">
            <a:avLst/>
          </a:prstGeom>
          <a:ln w="4763">
            <a:solidFill>
              <a:srgbClr val="D8DDE5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780" y="957225"/>
            <a:ext cx="1533525" cy="91440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264088" y="2617998"/>
            <a:ext cx="1543050" cy="923925"/>
          </a:xfrm>
          <a:prstGeom prst="rect">
            <a:avLst/>
          </a:prstGeom>
          <a:ln w="4763">
            <a:solidFill>
              <a:srgbClr val="D8DDE5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850" y="2622761"/>
            <a:ext cx="1533525" cy="91440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870018" y="2617998"/>
            <a:ext cx="1543050" cy="923925"/>
          </a:xfrm>
          <a:prstGeom prst="rect">
            <a:avLst/>
          </a:prstGeom>
          <a:ln w="4763">
            <a:solidFill>
              <a:srgbClr val="D8DDE5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4780" y="2622761"/>
            <a:ext cx="1533525" cy="9144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1490" y="4227314"/>
            <a:ext cx="10485150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080" spc="86" kern="0" dirty="0">
                <a:solidFill>
                  <a:srgbClr val="77777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ZENDESK SCREENSHOTS: INVESTIGATION → INTERNAL NOTES → TROUBLESHOOTING → CONFIRMATION →</a:t>
            </a:r>
            <a:endParaRPr lang="en-US" sz="108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080" spc="86" kern="0" dirty="0">
                <a:solidFill>
                  <a:srgbClr val="77777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CLOSURE</a:t>
            </a:r>
            <a:endParaRPr lang="en-US" sz="1080" dirty="0"/>
          </a:p>
        </p:txBody>
      </p:sp>
      <p:sp>
        <p:nvSpPr>
          <p:cNvPr id="29" name="Text 23"/>
          <p:cNvSpPr/>
          <p:nvPr/>
        </p:nvSpPr>
        <p:spPr>
          <a:xfrm>
            <a:off x="731490" y="4872558"/>
            <a:ext cx="36943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CAPACITI | HELPDESK SIMULATION</a:t>
            </a:r>
            <a:endParaRPr lang="en-US" sz="1080" dirty="0"/>
          </a:p>
        </p:txBody>
      </p:sp>
      <p:sp>
        <p:nvSpPr>
          <p:cNvPr id="30" name="Text 24"/>
          <p:cNvSpPr/>
          <p:nvPr/>
        </p:nvSpPr>
        <p:spPr>
          <a:xfrm>
            <a:off x="8225954" y="4872558"/>
            <a:ext cx="299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06</a:t>
            </a:r>
            <a:endParaRPr lang="en-US" sz="108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086" y="951533"/>
            <a:ext cx="4257675" cy="3267075"/>
          </a:xfrm>
          <a:prstGeom prst="rect">
            <a:avLst/>
          </a:prstGeom>
        </p:spPr>
      </p:pic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4782517"/>
            <a:ext cx="91440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4" name="Text 2"/>
          <p:cNvSpPr/>
          <p:nvPr/>
        </p:nvSpPr>
        <p:spPr>
          <a:xfrm>
            <a:off x="731490" y="227037"/>
            <a:ext cx="3318294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spc="-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Communication</a:t>
            </a:r>
            <a:endParaRPr lang="en-US" sz="2020" dirty="0"/>
          </a:p>
        </p:txBody>
      </p:sp>
      <p:sp>
        <p:nvSpPr>
          <p:cNvPr id="5" name="Text 3"/>
          <p:cNvSpPr/>
          <p:nvPr/>
        </p:nvSpPr>
        <p:spPr>
          <a:xfrm>
            <a:off x="8225954" y="292447"/>
            <a:ext cx="299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BBBEC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07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731974" y="1079897"/>
            <a:ext cx="3519487" cy="847725"/>
          </a:xfrm>
          <a:prstGeom prst="rect">
            <a:avLst/>
          </a:prstGeom>
          <a:ln/>
        </p:spPr>
      </p:sp>
      <p:sp>
        <p:nvSpPr>
          <p:cNvPr id="7" name="Text 5"/>
          <p:cNvSpPr/>
          <p:nvPr/>
        </p:nvSpPr>
        <p:spPr>
          <a:xfrm>
            <a:off x="731490" y="1221060"/>
            <a:ext cx="246235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START WITH THE USER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31490" y="1524819"/>
            <a:ext cx="4178781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Acknowledged the user’s problem before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9169" y="1728490"/>
            <a:ext cx="175529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giving instructions</a:t>
            </a:r>
            <a:endParaRPr lang="en-US" sz="1190" dirty="0"/>
          </a:p>
        </p:txBody>
      </p:sp>
      <p:sp>
        <p:nvSpPr>
          <p:cNvPr id="10" name="Shape 8"/>
          <p:cNvSpPr/>
          <p:nvPr/>
        </p:nvSpPr>
        <p:spPr>
          <a:xfrm>
            <a:off x="4892501" y="1079897"/>
            <a:ext cx="3519487" cy="847725"/>
          </a:xfrm>
          <a:prstGeom prst="rect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4891980" y="1221060"/>
            <a:ext cx="309531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INVESTIGATE WITH PURPOSE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4891980" y="1524819"/>
            <a:ext cx="4625035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Asked focused questions instead of assuming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29659" y="1728490"/>
            <a:ext cx="96455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cause</a:t>
            </a:r>
            <a:endParaRPr lang="en-US" sz="1190" dirty="0"/>
          </a:p>
        </p:txBody>
      </p:sp>
      <p:sp>
        <p:nvSpPr>
          <p:cNvPr id="14" name="Shape 12"/>
          <p:cNvSpPr/>
          <p:nvPr/>
        </p:nvSpPr>
        <p:spPr>
          <a:xfrm>
            <a:off x="731974" y="2132856"/>
            <a:ext cx="3519487" cy="847725"/>
          </a:xfrm>
          <a:prstGeom prst="rect">
            <a:avLst/>
          </a:prstGeom>
          <a:ln/>
        </p:spPr>
      </p:sp>
      <p:sp>
        <p:nvSpPr>
          <p:cNvPr id="15" name="Text 13"/>
          <p:cNvSpPr/>
          <p:nvPr/>
        </p:nvSpPr>
        <p:spPr>
          <a:xfrm>
            <a:off x="731490" y="2274019"/>
            <a:ext cx="208255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SET EXPECTATIONS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731490" y="2577778"/>
            <a:ext cx="4484958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Explained what would be checked and when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9169" y="2781449"/>
            <a:ext cx="220328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update would follow</a:t>
            </a:r>
            <a:endParaRPr lang="en-US" sz="1190" dirty="0"/>
          </a:p>
        </p:txBody>
      </p:sp>
      <p:sp>
        <p:nvSpPr>
          <p:cNvPr id="18" name="Shape 16"/>
          <p:cNvSpPr/>
          <p:nvPr/>
        </p:nvSpPr>
        <p:spPr>
          <a:xfrm>
            <a:off x="4892501" y="2132856"/>
            <a:ext cx="3519487" cy="847725"/>
          </a:xfrm>
          <a:prstGeom prst="rect">
            <a:avLst/>
          </a:prstGeom>
          <a:ln/>
        </p:spPr>
      </p:sp>
      <p:sp>
        <p:nvSpPr>
          <p:cNvPr id="19" name="Text 17"/>
          <p:cNvSpPr/>
          <p:nvPr/>
        </p:nvSpPr>
        <p:spPr>
          <a:xfrm>
            <a:off x="4891980" y="2274019"/>
            <a:ext cx="220919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MAKE ACTION CLEAR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4891980" y="2577778"/>
            <a:ext cx="4340624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numbered steps for technical actions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1974" y="3185815"/>
            <a:ext cx="3519487" cy="847725"/>
          </a:xfrm>
          <a:prstGeom prst="rect">
            <a:avLst/>
          </a:prstGeom>
          <a:ln/>
        </p:spPr>
      </p:sp>
      <p:sp>
        <p:nvSpPr>
          <p:cNvPr id="22" name="Text 20"/>
          <p:cNvSpPr/>
          <p:nvPr/>
        </p:nvSpPr>
        <p:spPr>
          <a:xfrm>
            <a:off x="731490" y="3326978"/>
            <a:ext cx="246235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CLOSE WITH EVIDENCE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731490" y="3630737"/>
            <a:ext cx="4349137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Confirmed the user’s retest before marking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69169" y="3834408"/>
            <a:ext cx="159983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ticket Solved</a:t>
            </a:r>
            <a:endParaRPr lang="en-US" sz="1190" dirty="0"/>
          </a:p>
        </p:txBody>
      </p:sp>
      <p:sp>
        <p:nvSpPr>
          <p:cNvPr id="25" name="Shape 23"/>
          <p:cNvSpPr/>
          <p:nvPr/>
        </p:nvSpPr>
        <p:spPr>
          <a:xfrm>
            <a:off x="4892501" y="3185815"/>
            <a:ext cx="3519487" cy="847725"/>
          </a:xfrm>
          <a:prstGeom prst="rect">
            <a:avLst/>
          </a:prstGeom>
          <a:ln/>
        </p:spPr>
      </p:sp>
      <p:sp>
        <p:nvSpPr>
          <p:cNvPr id="26" name="Text 24"/>
          <p:cNvSpPr/>
          <p:nvPr/>
        </p:nvSpPr>
        <p:spPr>
          <a:xfrm>
            <a:off x="4891980" y="3326978"/>
            <a:ext cx="233572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PROTECT THE RECORD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4891980" y="3630737"/>
            <a:ext cx="4178394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Kept public replies separate from internal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129659" y="3834408"/>
            <a:ext cx="157913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technician notes</a:t>
            </a:r>
            <a:endParaRPr lang="en-US" sz="1190" dirty="0"/>
          </a:p>
        </p:txBody>
      </p:sp>
      <p:sp>
        <p:nvSpPr>
          <p:cNvPr id="29" name="Text 27"/>
          <p:cNvSpPr/>
          <p:nvPr/>
        </p:nvSpPr>
        <p:spPr>
          <a:xfrm>
            <a:off x="731490" y="4872558"/>
            <a:ext cx="36943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CAPACITI | HELPDESK SIMULATION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8225954" y="4872558"/>
            <a:ext cx="299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07</a:t>
            </a:r>
            <a:endParaRPr lang="en-US" sz="108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974" y="1079897"/>
            <a:ext cx="3519487" cy="847725"/>
          </a:xfrm>
          <a:prstGeom prst="rect">
            <a:avLst/>
          </a:prstGeom>
        </p:spPr>
      </p:pic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2501" y="1079897"/>
            <a:ext cx="3519487" cy="847725"/>
          </a:xfrm>
          <a:prstGeom prst="rect">
            <a:avLst/>
          </a:prstGeom>
        </p:spPr>
      </p:pic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974" y="2132856"/>
            <a:ext cx="3519487" cy="847725"/>
          </a:xfrm>
          <a:prstGeom prst="rect">
            <a:avLst/>
          </a:prstGeom>
        </p:spPr>
      </p:pic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92501" y="2132856"/>
            <a:ext cx="3519487" cy="847725"/>
          </a:xfrm>
          <a:prstGeom prst="rect">
            <a:avLst/>
          </a:prstGeom>
        </p:spPr>
      </p:pic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974" y="3185815"/>
            <a:ext cx="3519487" cy="847725"/>
          </a:xfrm>
          <a:prstGeom prst="rect">
            <a:avLst/>
          </a:prstGeom>
        </p:spPr>
      </p:pic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92501" y="3185815"/>
            <a:ext cx="3519487" cy="847725"/>
          </a:xfrm>
          <a:prstGeom prst="rect">
            <a:avLst/>
          </a:prstGeom>
        </p:spPr>
      </p:pic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0" y="4782517"/>
            <a:ext cx="91440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4" name="Text 2"/>
          <p:cNvSpPr/>
          <p:nvPr/>
        </p:nvSpPr>
        <p:spPr>
          <a:xfrm>
            <a:off x="731490" y="227037"/>
            <a:ext cx="3791925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spc="-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Skills Learned</a:t>
            </a:r>
            <a:endParaRPr lang="en-US" sz="2020" dirty="0"/>
          </a:p>
        </p:txBody>
      </p:sp>
      <p:sp>
        <p:nvSpPr>
          <p:cNvPr id="5" name="Text 3"/>
          <p:cNvSpPr/>
          <p:nvPr/>
        </p:nvSpPr>
        <p:spPr>
          <a:xfrm>
            <a:off x="8225954" y="292447"/>
            <a:ext cx="299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BBBEC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08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731230" y="1028067"/>
            <a:ext cx="3786188" cy="1871663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7" name="Text 5"/>
          <p:cNvSpPr/>
          <p:nvPr/>
        </p:nvSpPr>
        <p:spPr>
          <a:xfrm>
            <a:off x="932631" y="1282229"/>
            <a:ext cx="57189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880" dirty="0"/>
          </a:p>
        </p:txBody>
      </p:sp>
      <p:sp>
        <p:nvSpPr>
          <p:cNvPr id="8" name="Text 6"/>
          <p:cNvSpPr/>
          <p:nvPr/>
        </p:nvSpPr>
        <p:spPr>
          <a:xfrm>
            <a:off x="932631" y="1787947"/>
            <a:ext cx="334847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STRUCTURED TROUBLESHOOTING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932631" y="2091705"/>
            <a:ext cx="4331628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Isolate the device, test the symptom, apply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70310" y="2295376"/>
            <a:ext cx="219051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change, and retest</a:t>
            </a:r>
            <a:endParaRPr lang="en-US" sz="1190" dirty="0"/>
          </a:p>
        </p:txBody>
      </p:sp>
      <p:sp>
        <p:nvSpPr>
          <p:cNvPr id="11" name="Shape 9"/>
          <p:cNvSpPr/>
          <p:nvPr/>
        </p:nvSpPr>
        <p:spPr>
          <a:xfrm>
            <a:off x="4626583" y="1028067"/>
            <a:ext cx="3786188" cy="1871663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2" name="Text 10"/>
          <p:cNvSpPr/>
          <p:nvPr/>
        </p:nvSpPr>
        <p:spPr>
          <a:xfrm>
            <a:off x="4827984" y="1282229"/>
            <a:ext cx="667085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880" dirty="0"/>
          </a:p>
        </p:txBody>
      </p:sp>
      <p:sp>
        <p:nvSpPr>
          <p:cNvPr id="13" name="Text 11"/>
          <p:cNvSpPr/>
          <p:nvPr/>
        </p:nvSpPr>
        <p:spPr>
          <a:xfrm>
            <a:off x="4827984" y="1787947"/>
            <a:ext cx="246235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NETWORK DIAGNOSTICS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827984" y="2091705"/>
            <a:ext cx="4383286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DNS cache refresh, IP release and renewal,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65663" y="2295376"/>
            <a:ext cx="346852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device comparison, and connectivity</a:t>
            </a:r>
            <a:endParaRPr lang="en-US" sz="1190" dirty="0"/>
          </a:p>
        </p:txBody>
      </p:sp>
      <p:sp>
        <p:nvSpPr>
          <p:cNvPr id="16" name="Text 14"/>
          <p:cNvSpPr/>
          <p:nvPr/>
        </p:nvSpPr>
        <p:spPr>
          <a:xfrm>
            <a:off x="5065663" y="2499047"/>
            <a:ext cx="68498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</a:t>
            </a:r>
            <a:endParaRPr lang="en-US" sz="1190" dirty="0"/>
          </a:p>
        </p:txBody>
      </p:sp>
      <p:sp>
        <p:nvSpPr>
          <p:cNvPr id="17" name="Shape 15"/>
          <p:cNvSpPr/>
          <p:nvPr/>
        </p:nvSpPr>
        <p:spPr>
          <a:xfrm>
            <a:off x="731230" y="3008151"/>
            <a:ext cx="3786188" cy="1871663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31" y="3262312"/>
            <a:ext cx="673373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880" dirty="0"/>
          </a:p>
        </p:txBody>
      </p:sp>
      <p:sp>
        <p:nvSpPr>
          <p:cNvPr id="19" name="Text 17"/>
          <p:cNvSpPr/>
          <p:nvPr/>
        </p:nvSpPr>
        <p:spPr>
          <a:xfrm>
            <a:off x="932631" y="3768030"/>
            <a:ext cx="246235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APPLICATION SUPPORT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932631" y="4071789"/>
            <a:ext cx="4193485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OneDrive authentication recovery, Teams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70310" y="4275460"/>
            <a:ext cx="379772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troubleshooting, and application</a:t>
            </a:r>
            <a:endParaRPr lang="en-US" sz="1190" dirty="0"/>
          </a:p>
        </p:txBody>
      </p:sp>
      <p:sp>
        <p:nvSpPr>
          <p:cNvPr id="22" name="Text 20"/>
          <p:cNvSpPr/>
          <p:nvPr/>
        </p:nvSpPr>
        <p:spPr>
          <a:xfrm>
            <a:off x="1170310" y="4479131"/>
            <a:ext cx="59549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repair</a:t>
            </a:r>
            <a:endParaRPr lang="en-US" sz="1190" dirty="0"/>
          </a:p>
        </p:txBody>
      </p:sp>
      <p:sp>
        <p:nvSpPr>
          <p:cNvPr id="23" name="Shape 21"/>
          <p:cNvSpPr/>
          <p:nvPr/>
        </p:nvSpPr>
        <p:spPr>
          <a:xfrm>
            <a:off x="4626583" y="3008151"/>
            <a:ext cx="3786188" cy="1871663"/>
          </a:xfrm>
          <a:prstGeom prst="rect">
            <a:avLst/>
          </a:prstGeom>
          <a:solidFill>
            <a:srgbClr val="F0F3F7"/>
          </a:solidFill>
          <a:ln/>
        </p:spPr>
      </p:sp>
      <p:sp>
        <p:nvSpPr>
          <p:cNvPr id="24" name="Text 22"/>
          <p:cNvSpPr/>
          <p:nvPr/>
        </p:nvSpPr>
        <p:spPr>
          <a:xfrm>
            <a:off x="4827984" y="3262312"/>
            <a:ext cx="687497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8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880" dirty="0"/>
          </a:p>
        </p:txBody>
      </p:sp>
      <p:sp>
        <p:nvSpPr>
          <p:cNvPr id="25" name="Text 23"/>
          <p:cNvSpPr/>
          <p:nvPr/>
        </p:nvSpPr>
        <p:spPr>
          <a:xfrm>
            <a:off x="4827984" y="3768030"/>
            <a:ext cx="32218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ZENDESK TICKET MANAGEMENT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827984" y="4071789"/>
            <a:ext cx="4391896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notes, public replies, evidence, and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65663" y="4275460"/>
            <a:ext cx="158909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resolution status</a:t>
            </a:r>
            <a:endParaRPr lang="en-US" sz="1190" dirty="0"/>
          </a:p>
        </p:txBody>
      </p:sp>
      <p:sp>
        <p:nvSpPr>
          <p:cNvPr id="28" name="Text 26"/>
          <p:cNvSpPr/>
          <p:nvPr/>
        </p:nvSpPr>
        <p:spPr>
          <a:xfrm>
            <a:off x="731490" y="4872558"/>
            <a:ext cx="36943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CAPACITI | HELPDESK SIMULATION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8225954" y="4872558"/>
            <a:ext cx="299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08</a:t>
            </a:r>
            <a:endParaRPr lang="en-US" sz="108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82517"/>
            <a:ext cx="91440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4" name="Text 2"/>
          <p:cNvSpPr/>
          <p:nvPr/>
        </p:nvSpPr>
        <p:spPr>
          <a:xfrm>
            <a:off x="731490" y="227037"/>
            <a:ext cx="5075739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spc="-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Service Skills Learned</a:t>
            </a:r>
            <a:endParaRPr lang="en-US" sz="2020" dirty="0"/>
          </a:p>
        </p:txBody>
      </p:sp>
      <p:sp>
        <p:nvSpPr>
          <p:cNvPr id="5" name="Text 3"/>
          <p:cNvSpPr/>
          <p:nvPr/>
        </p:nvSpPr>
        <p:spPr>
          <a:xfrm>
            <a:off x="8225954" y="292447"/>
            <a:ext cx="299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BBBEC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09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731974" y="1027695"/>
            <a:ext cx="3519487" cy="828675"/>
          </a:xfrm>
          <a:prstGeom prst="rect">
            <a:avLst/>
          </a:prstGeom>
          <a:ln/>
        </p:spPr>
      </p:sp>
      <p:sp>
        <p:nvSpPr>
          <p:cNvPr id="7" name="Text 5"/>
          <p:cNvSpPr/>
          <p:nvPr/>
        </p:nvSpPr>
        <p:spPr>
          <a:xfrm>
            <a:off x="731490" y="1169640"/>
            <a:ext cx="271551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01 | ACTIVE LISTENING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31490" y="1452786"/>
            <a:ext cx="4154984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Captured the user’s exact symptoms and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9169" y="1656457"/>
            <a:ext cx="171659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previous attempts</a:t>
            </a:r>
            <a:endParaRPr lang="en-US" sz="1190" dirty="0"/>
          </a:p>
        </p:txBody>
      </p:sp>
      <p:sp>
        <p:nvSpPr>
          <p:cNvPr id="10" name="Shape 8"/>
          <p:cNvSpPr/>
          <p:nvPr/>
        </p:nvSpPr>
        <p:spPr>
          <a:xfrm>
            <a:off x="4892501" y="1027695"/>
            <a:ext cx="3519487" cy="828675"/>
          </a:xfrm>
          <a:prstGeom prst="rect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4891980" y="1169640"/>
            <a:ext cx="309531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02 | CLEAR COMMUNICATION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4891980" y="1452786"/>
            <a:ext cx="4596400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Translated technical steps into plain language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974" y="2034369"/>
            <a:ext cx="3519487" cy="828675"/>
          </a:xfrm>
          <a:prstGeom prst="rect">
            <a:avLst/>
          </a:prstGeom>
          <a:ln/>
        </p:spPr>
      </p:sp>
      <p:sp>
        <p:nvSpPr>
          <p:cNvPr id="14" name="Text 12"/>
          <p:cNvSpPr/>
          <p:nvPr/>
        </p:nvSpPr>
        <p:spPr>
          <a:xfrm>
            <a:off x="731490" y="2176314"/>
            <a:ext cx="347501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03 | EXPECTATION MANAGEMENT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731490" y="2459459"/>
            <a:ext cx="3961894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Explained the next check and provided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69169" y="2663130"/>
            <a:ext cx="80348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updates</a:t>
            </a:r>
            <a:endParaRPr lang="en-US" sz="1190" dirty="0"/>
          </a:p>
        </p:txBody>
      </p:sp>
      <p:sp>
        <p:nvSpPr>
          <p:cNvPr id="17" name="Shape 15"/>
          <p:cNvSpPr/>
          <p:nvPr/>
        </p:nvSpPr>
        <p:spPr>
          <a:xfrm>
            <a:off x="4892501" y="2034369"/>
            <a:ext cx="3519487" cy="828675"/>
          </a:xfrm>
          <a:prstGeom prst="rect">
            <a:avLst/>
          </a:prstGeom>
          <a:ln/>
        </p:spPr>
      </p:sp>
      <p:sp>
        <p:nvSpPr>
          <p:cNvPr id="18" name="Text 16"/>
          <p:cNvSpPr/>
          <p:nvPr/>
        </p:nvSpPr>
        <p:spPr>
          <a:xfrm>
            <a:off x="4891980" y="2176314"/>
            <a:ext cx="322184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04 | PROFESSIONAL WRITING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4891980" y="2459459"/>
            <a:ext cx="4104583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calm, direct, and respectful replies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044" y="3042865"/>
            <a:ext cx="7681912" cy="633412"/>
          </a:xfrm>
          <a:prstGeom prst="rect">
            <a:avLst/>
          </a:prstGeom>
          <a:ln/>
        </p:spPr>
      </p:sp>
      <p:sp>
        <p:nvSpPr>
          <p:cNvPr id="21" name="Text 19"/>
          <p:cNvSpPr/>
          <p:nvPr/>
        </p:nvSpPr>
        <p:spPr>
          <a:xfrm>
            <a:off x="731490" y="3182987"/>
            <a:ext cx="360164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05 | RESOLUTION CONFIRMATION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731490" y="3466133"/>
            <a:ext cx="3952220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Asked the user to retest before closing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490" y="4872558"/>
            <a:ext cx="36943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CAPACITI | HELPDESK SIMULATION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8225954" y="4872558"/>
            <a:ext cx="299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09</a:t>
            </a:r>
            <a:endParaRPr lang="en-US" sz="108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974" y="1027695"/>
            <a:ext cx="3519487" cy="828675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2501" y="1027695"/>
            <a:ext cx="3519487" cy="828675"/>
          </a:xfrm>
          <a:prstGeom prst="rect">
            <a:avLst/>
          </a:prstGeom>
        </p:spPr>
      </p:pic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974" y="2034369"/>
            <a:ext cx="3519487" cy="828675"/>
          </a:xfrm>
          <a:prstGeom prst="rect">
            <a:avLst/>
          </a:prstGeom>
        </p:spPr>
      </p:pic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92501" y="2034369"/>
            <a:ext cx="3519487" cy="828675"/>
          </a:xfrm>
          <a:prstGeom prst="rect">
            <a:avLst/>
          </a:prstGeom>
        </p:spPr>
      </p:pic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044" y="3042865"/>
            <a:ext cx="7681912" cy="633412"/>
          </a:xfrm>
          <a:prstGeom prst="rect">
            <a:avLst/>
          </a:prstGeom>
        </p:spPr>
      </p:pic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0" y="4782517"/>
            <a:ext cx="91440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71525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4" name="Text 2"/>
          <p:cNvSpPr/>
          <p:nvPr/>
        </p:nvSpPr>
        <p:spPr>
          <a:xfrm>
            <a:off x="731490" y="227037"/>
            <a:ext cx="5837939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20" b="1" spc="-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 and Personal Improvement</a:t>
            </a:r>
            <a:endParaRPr lang="en-US" sz="2020" dirty="0"/>
          </a:p>
        </p:txBody>
      </p:sp>
      <p:sp>
        <p:nvSpPr>
          <p:cNvPr id="5" name="Text 3"/>
          <p:cNvSpPr/>
          <p:nvPr/>
        </p:nvSpPr>
        <p:spPr>
          <a:xfrm>
            <a:off x="8225954" y="292447"/>
            <a:ext cx="299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BBBEC6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732011" y="901525"/>
            <a:ext cx="3752850" cy="838200"/>
          </a:xfrm>
          <a:prstGeom prst="rect">
            <a:avLst/>
          </a:prstGeom>
          <a:ln/>
        </p:spPr>
      </p:sp>
      <p:sp>
        <p:nvSpPr>
          <p:cNvPr id="7" name="Text 5"/>
          <p:cNvSpPr/>
          <p:nvPr/>
        </p:nvSpPr>
        <p:spPr>
          <a:xfrm>
            <a:off x="731490" y="1043619"/>
            <a:ext cx="208255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IMPROVEMENT GOAL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31490" y="1293108"/>
            <a:ext cx="4423239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deeper confidence with Microsoft 365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9169" y="1496780"/>
            <a:ext cx="232866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service-side diagnostics</a:t>
            </a:r>
            <a:endParaRPr lang="en-US" sz="1190" dirty="0"/>
          </a:p>
        </p:txBody>
      </p:sp>
      <p:sp>
        <p:nvSpPr>
          <p:cNvPr id="10" name="Shape 8"/>
          <p:cNvSpPr/>
          <p:nvPr/>
        </p:nvSpPr>
        <p:spPr>
          <a:xfrm>
            <a:off x="732011" y="1742518"/>
            <a:ext cx="3752850" cy="1042988"/>
          </a:xfrm>
          <a:prstGeom prst="rect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731490" y="1884612"/>
            <a:ext cx="1702862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WHY THIS GOAL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731490" y="2134101"/>
            <a:ext cx="4744990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fixes resolved the tickets, but tenant-side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9169" y="2337773"/>
            <a:ext cx="416185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health and account policies can also</a:t>
            </a:r>
            <a:endParaRPr lang="en-US" sz="1190" dirty="0"/>
          </a:p>
        </p:txBody>
      </p:sp>
      <p:sp>
        <p:nvSpPr>
          <p:cNvPr id="14" name="Text 12"/>
          <p:cNvSpPr/>
          <p:nvPr/>
        </p:nvSpPr>
        <p:spPr>
          <a:xfrm>
            <a:off x="969169" y="2541445"/>
            <a:ext cx="257940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affect Teams and OneDrive</a:t>
            </a:r>
            <a:endParaRPr lang="en-US" sz="1190" dirty="0"/>
          </a:p>
        </p:txBody>
      </p:sp>
      <p:sp>
        <p:nvSpPr>
          <p:cNvPr id="15" name="Shape 13"/>
          <p:cNvSpPr/>
          <p:nvPr/>
        </p:nvSpPr>
        <p:spPr>
          <a:xfrm>
            <a:off x="732011" y="2787183"/>
            <a:ext cx="3752850" cy="1042988"/>
          </a:xfrm>
          <a:prstGeom prst="rect">
            <a:avLst/>
          </a:prstGeom>
          <a:ln/>
        </p:spPr>
      </p:sp>
      <p:sp>
        <p:nvSpPr>
          <p:cNvPr id="16" name="Text 14"/>
          <p:cNvSpPr/>
          <p:nvPr/>
        </p:nvSpPr>
        <p:spPr>
          <a:xfrm>
            <a:off x="731490" y="2929277"/>
            <a:ext cx="208255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IMPROVEMENT PLAN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731490" y="3178766"/>
            <a:ext cx="4256172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Practise Microsoft 365 admin diagnostics,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9169" y="3382438"/>
            <a:ext cx="451175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escalation criteria, and compare local</a:t>
            </a:r>
            <a:endParaRPr lang="en-US" sz="1190" dirty="0"/>
          </a:p>
        </p:txBody>
      </p:sp>
      <p:sp>
        <p:nvSpPr>
          <p:cNvPr id="19" name="Text 17"/>
          <p:cNvSpPr/>
          <p:nvPr/>
        </p:nvSpPr>
        <p:spPr>
          <a:xfrm>
            <a:off x="969169" y="3586110"/>
            <a:ext cx="255754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versus tenant-wide causes</a:t>
            </a:r>
            <a:endParaRPr lang="en-US" sz="1190" dirty="0"/>
          </a:p>
        </p:txBody>
      </p:sp>
      <p:sp>
        <p:nvSpPr>
          <p:cNvPr id="20" name="Shape 18"/>
          <p:cNvSpPr/>
          <p:nvPr/>
        </p:nvSpPr>
        <p:spPr>
          <a:xfrm>
            <a:off x="732011" y="3831848"/>
            <a:ext cx="3752850" cy="1040000"/>
          </a:xfrm>
          <a:prstGeom prst="rect">
            <a:avLst/>
          </a:prstGeom>
          <a:ln/>
        </p:spPr>
      </p:sp>
      <p:sp>
        <p:nvSpPr>
          <p:cNvPr id="21" name="Text 19"/>
          <p:cNvSpPr/>
          <p:nvPr/>
        </p:nvSpPr>
        <p:spPr>
          <a:xfrm>
            <a:off x="731490" y="3973942"/>
            <a:ext cx="182939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119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PROJECT LESSON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731490" y="4223431"/>
            <a:ext cx="4010263" cy="199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44"/>
              </a:spcBef>
              <a:buNone/>
            </a:pPr>
            <a:r>
              <a:rPr lang="en-US" sz="115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helpdesk work combines logical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9169" y="4427103"/>
            <a:ext cx="456670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investigation, accurate documentation, and clear</a:t>
            </a:r>
            <a:endParaRPr lang="en-US" sz="1190" dirty="0"/>
          </a:p>
        </p:txBody>
      </p:sp>
      <p:sp>
        <p:nvSpPr>
          <p:cNvPr id="24" name="Text 22"/>
          <p:cNvSpPr/>
          <p:nvPr/>
        </p:nvSpPr>
        <p:spPr>
          <a:xfrm>
            <a:off x="969169" y="4630775"/>
            <a:ext cx="240508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communication</a:t>
            </a:r>
            <a:endParaRPr lang="en-US" sz="1190" dirty="0"/>
          </a:p>
        </p:txBody>
      </p:sp>
      <p:sp>
        <p:nvSpPr>
          <p:cNvPr id="25" name="Shape 23"/>
          <p:cNvSpPr/>
          <p:nvPr/>
        </p:nvSpPr>
        <p:spPr>
          <a:xfrm>
            <a:off x="5625443" y="2141823"/>
            <a:ext cx="2195513" cy="2195513"/>
          </a:xfrm>
          <a:prstGeom prst="ellipse">
            <a:avLst/>
          </a:prstGeom>
          <a:ln w="19050">
            <a:solidFill>
              <a:srgbClr val="1C25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99249" y="2415629"/>
            <a:ext cx="1647825" cy="1647825"/>
          </a:xfrm>
          <a:prstGeom prst="ellipse">
            <a:avLst/>
          </a:prstGeom>
          <a:ln w="9525">
            <a:solidFill>
              <a:srgbClr val="1B2541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52519" y="2723927"/>
            <a:ext cx="1541212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C25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6008057" y="3185666"/>
            <a:ext cx="1430060" cy="592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080" spc="108" kern="0" dirty="0">
                <a:solidFill>
                  <a:srgbClr val="77777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INVESTIGATE</a:t>
            </a:r>
            <a:endParaRPr lang="en-US" sz="108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080" spc="108" kern="0" dirty="0">
                <a:solidFill>
                  <a:srgbClr val="77777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COMMUNICATE</a:t>
            </a:r>
            <a:endParaRPr lang="en-US" sz="1080" dirty="0"/>
          </a:p>
          <a:p>
            <a:pPr algn="ctr" indent="0" marL="0">
              <a:lnSpc>
                <a:spcPts val="1620"/>
              </a:lnSpc>
              <a:buNone/>
            </a:pPr>
            <a:r>
              <a:rPr lang="en-US" sz="1080" spc="108" kern="0" dirty="0">
                <a:solidFill>
                  <a:srgbClr val="777777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IMPROVE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731490" y="4872558"/>
            <a:ext cx="369431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CAPACITI | HELPDESK SIMULATION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8225954" y="4872558"/>
            <a:ext cx="29967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spc="86" kern="0" dirty="0">
                <a:solidFill>
                  <a:srgbClr val="888888"/>
                </a:solidFill>
                <a:latin typeface="DM Mono" pitchFamily="34" charset="0"/>
                <a:ea typeface="DM Mono" pitchFamily="34" charset="-122"/>
                <a:cs typeface="DM Mono" pitchFamily="34" charset="-120"/>
              </a:rPr>
              <a:t>10</a:t>
            </a:r>
            <a:endParaRPr lang="en-US" sz="108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2011" y="901525"/>
            <a:ext cx="3752850" cy="838200"/>
          </a:xfrm>
          <a:prstGeom prst="rect">
            <a:avLst/>
          </a:prstGeom>
        </p:spPr>
      </p:pic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011" y="1742518"/>
            <a:ext cx="3752850" cy="1042988"/>
          </a:xfrm>
          <a:prstGeom prst="rect">
            <a:avLst/>
          </a:prstGeom>
        </p:spPr>
      </p:pic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011" y="2787183"/>
            <a:ext cx="3752850" cy="1042988"/>
          </a:xfrm>
          <a:prstGeom prst="rect">
            <a:avLst/>
          </a:prstGeom>
        </p:spPr>
      </p:pic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2011" y="3831848"/>
            <a:ext cx="3752850" cy="1040000"/>
          </a:xfrm>
          <a:prstGeom prst="rect">
            <a:avLst/>
          </a:prstGeom>
        </p:spPr>
      </p:pic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0" y="4782517"/>
            <a:ext cx="9144000" cy="361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2026-09-11T09:06:25Z</dcterms:created>
  <dcterms:modified xsi:type="dcterms:W3CDTF">2026-09-11T09:06:25Z</dcterms:modified>
</cp:coreProperties>
</file>